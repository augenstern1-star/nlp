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BM Plex Serif Bold" panose="02010600030101010101" charset="0"/>
      <p:regular r:id="rId17"/>
    </p:embeddedFont>
    <p:embeddedFont>
      <p:font typeface="Niramit" panose="02010600030101010101" charset="-3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4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4044197" y="2356423"/>
            <a:ext cx="10137152" cy="279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303"/>
              </a:lnSpc>
            </a:pPr>
            <a:r>
              <a:rPr lang="en-US" sz="8800" b="1" dirty="0" err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地书翻译机：图形语言的语义漂移实验</a:t>
            </a:r>
            <a:endParaRPr lang="en-US" sz="8800" b="1" dirty="0">
              <a:solidFill>
                <a:srgbClr val="4A6686"/>
              </a:solidFill>
              <a:latin typeface="IBM Plex Serif Bold"/>
              <a:ea typeface="IBM Plex Serif Bold"/>
              <a:cs typeface="IBM Plex Serif Bold"/>
              <a:sym typeface="IBM Plex Serif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046240" y="8097286"/>
            <a:ext cx="8195520" cy="434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2"/>
              </a:lnSpc>
            </a:pPr>
            <a:r>
              <a:rPr lang="en-US" sz="2546" dirty="0" err="1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组员</a:t>
            </a:r>
            <a:r>
              <a:rPr lang="en-US" sz="2546" dirty="0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：</a:t>
            </a:r>
            <a:r>
              <a:rPr lang="zh-CN" altLang="en-US" sz="2546" dirty="0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邵奕博、周凡升</a:t>
            </a:r>
            <a:endParaRPr lang="en-US" sz="2546" dirty="0">
              <a:solidFill>
                <a:srgbClr val="4A6686"/>
              </a:solidFill>
              <a:latin typeface="Niramit"/>
              <a:ea typeface="Niramit"/>
              <a:cs typeface="Niramit"/>
              <a:sym typeface="Niramit"/>
            </a:endParaRPr>
          </a:p>
        </p:txBody>
      </p:sp>
      <p:sp>
        <p:nvSpPr>
          <p:cNvPr id="16" name="Freeform 16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330364" y="2293448"/>
            <a:ext cx="11627272" cy="72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31"/>
              </a:lnSpc>
            </a:pPr>
            <a:r>
              <a:rPr lang="en-US" sz="6037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从《地书》到"可计算的图形语言"</a:t>
            </a:r>
          </a:p>
        </p:txBody>
      </p:sp>
      <p:sp>
        <p:nvSpPr>
          <p:cNvPr id="17" name="Freeform 17"/>
          <p:cNvSpPr/>
          <p:nvPr/>
        </p:nvSpPr>
        <p:spPr>
          <a:xfrm>
            <a:off x="3401283" y="4001636"/>
            <a:ext cx="531019" cy="531019"/>
          </a:xfrm>
          <a:custGeom>
            <a:avLst/>
            <a:gdLst/>
            <a:ahLst/>
            <a:cxnLst/>
            <a:rect l="l" t="t" r="r" b="b"/>
            <a:pathLst>
              <a:path w="531019" h="531019">
                <a:moveTo>
                  <a:pt x="0" y="0"/>
                </a:moveTo>
                <a:lnTo>
                  <a:pt x="531018" y="0"/>
                </a:lnTo>
                <a:lnTo>
                  <a:pt x="531018" y="531019"/>
                </a:lnTo>
                <a:lnTo>
                  <a:pt x="0" y="531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286384" y="3963536"/>
            <a:ext cx="10600333" cy="188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90"/>
              </a:lnSpc>
            </a:pPr>
            <a:r>
              <a:rPr lang="en-US" sz="2787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徐冰《地书》构建了一套以通用图形符号为媒介的视觉语言体系——无需依赖任何特定自然语言，任何识字的人都能读懂。图形符号天然擅长表达具体事物、日常动作与可视化场景，具有跨语言传播的潜力。</a:t>
            </a:r>
          </a:p>
        </p:txBody>
      </p:sp>
      <p:sp>
        <p:nvSpPr>
          <p:cNvPr id="19" name="Freeform 19"/>
          <p:cNvSpPr/>
          <p:nvPr/>
        </p:nvSpPr>
        <p:spPr>
          <a:xfrm>
            <a:off x="3401283" y="6335732"/>
            <a:ext cx="531019" cy="531019"/>
          </a:xfrm>
          <a:custGeom>
            <a:avLst/>
            <a:gdLst/>
            <a:ahLst/>
            <a:cxnLst/>
            <a:rect l="l" t="t" r="r" b="b"/>
            <a:pathLst>
              <a:path w="531019" h="531019">
                <a:moveTo>
                  <a:pt x="0" y="0"/>
                </a:moveTo>
                <a:lnTo>
                  <a:pt x="531018" y="0"/>
                </a:lnTo>
                <a:lnTo>
                  <a:pt x="531018" y="531018"/>
                </a:lnTo>
                <a:lnTo>
                  <a:pt x="0" y="531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286384" y="6297632"/>
            <a:ext cx="10600333" cy="188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90"/>
              </a:lnSpc>
            </a:pPr>
            <a:r>
              <a:rPr lang="en-US" sz="2787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然而，图形语言在面对抽象关系、情感语境与复杂语法时显现出明显边界：逻辑连词、时态标记、隐喻表达往往难以被图形精确捕捉。本项目由此提出核心研究问题：当我们尝试将自然语言系统性地"翻译"为图形序列，语义在这一过程中如何保留、压缩与漂移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 rot="5400000">
            <a:off x="-2225761" y="3425512"/>
            <a:ext cx="3522256" cy="3456213"/>
          </a:xfrm>
          <a:custGeom>
            <a:avLst/>
            <a:gdLst/>
            <a:ahLst/>
            <a:cxnLst/>
            <a:rect l="l" t="t" r="r" b="b"/>
            <a:pathLst>
              <a:path w="3522256" h="3456213">
                <a:moveTo>
                  <a:pt x="0" y="0"/>
                </a:moveTo>
                <a:lnTo>
                  <a:pt x="3522256" y="0"/>
                </a:lnTo>
                <a:lnTo>
                  <a:pt x="3522256" y="3456213"/>
                </a:lnTo>
                <a:lnTo>
                  <a:pt x="0" y="3456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7320289" y="3534934"/>
            <a:ext cx="2811540" cy="3231655"/>
          </a:xfrm>
          <a:custGeom>
            <a:avLst/>
            <a:gdLst/>
            <a:ahLst/>
            <a:cxnLst/>
            <a:rect l="l" t="t" r="r" b="b"/>
            <a:pathLst>
              <a:path w="2811540" h="3231655">
                <a:moveTo>
                  <a:pt x="0" y="0"/>
                </a:moveTo>
                <a:lnTo>
                  <a:pt x="2811540" y="0"/>
                </a:lnTo>
                <a:lnTo>
                  <a:pt x="2811540" y="3231654"/>
                </a:lnTo>
                <a:lnTo>
                  <a:pt x="0" y="3231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330364" y="2407748"/>
            <a:ext cx="11627272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作品概念与创作目标</a:t>
            </a:r>
          </a:p>
        </p:txBody>
      </p:sp>
      <p:sp>
        <p:nvSpPr>
          <p:cNvPr id="17" name="Freeform 17"/>
          <p:cNvSpPr/>
          <p:nvPr/>
        </p:nvSpPr>
        <p:spPr>
          <a:xfrm>
            <a:off x="3401283" y="4001636"/>
            <a:ext cx="531019" cy="531019"/>
          </a:xfrm>
          <a:custGeom>
            <a:avLst/>
            <a:gdLst/>
            <a:ahLst/>
            <a:cxnLst/>
            <a:rect l="l" t="t" r="r" b="b"/>
            <a:pathLst>
              <a:path w="531019" h="531019">
                <a:moveTo>
                  <a:pt x="0" y="0"/>
                </a:moveTo>
                <a:lnTo>
                  <a:pt x="531018" y="0"/>
                </a:lnTo>
                <a:lnTo>
                  <a:pt x="531018" y="531019"/>
                </a:lnTo>
                <a:lnTo>
                  <a:pt x="0" y="531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286384" y="3963536"/>
            <a:ext cx="10600333" cy="188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翻译流程：自然语言输入 → 图形序列 → 自然语言回译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用户输入一段自然语言文本，系统将其逐步转化为《地书》图形序列，再将图形序列反向回译为自然语言。整个过程形成一个完整的语义循环，揭示图形语言在编码与解码过程中的信息保留与损耗。</a:t>
            </a:r>
          </a:p>
        </p:txBody>
      </p:sp>
      <p:sp>
        <p:nvSpPr>
          <p:cNvPr id="19" name="Freeform 19"/>
          <p:cNvSpPr/>
          <p:nvPr/>
        </p:nvSpPr>
        <p:spPr>
          <a:xfrm>
            <a:off x="3401283" y="6335732"/>
            <a:ext cx="531019" cy="531019"/>
          </a:xfrm>
          <a:custGeom>
            <a:avLst/>
            <a:gdLst/>
            <a:ahLst/>
            <a:cxnLst/>
            <a:rect l="l" t="t" r="r" b="b"/>
            <a:pathLst>
              <a:path w="531019" h="531019">
                <a:moveTo>
                  <a:pt x="0" y="0"/>
                </a:moveTo>
                <a:lnTo>
                  <a:pt x="531018" y="0"/>
                </a:lnTo>
                <a:lnTo>
                  <a:pt x="531018" y="531018"/>
                </a:lnTo>
                <a:lnTo>
                  <a:pt x="0" y="531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286384" y="6297632"/>
            <a:ext cx="10600333" cy="236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创作目标：把过程本身变成作品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本项目不追求唯一"正确"的翻译答案，而是将语义保留、语义压缩、概念借用与语义误读四种现象可视化呈现。语义的漂移轨迹、不可译的空位、以及回译与原句的差异，共同构成一件可观看、可讨论的数字艺术实验作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3330364" y="2394695"/>
            <a:ext cx="11627272" cy="110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6"/>
              </a:lnSpc>
            </a:pPr>
            <a:r>
              <a:rPr lang="en-US" sz="930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作品亮点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29458" y="3960008"/>
            <a:ext cx="5504352" cy="15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三种翻译版本</a:t>
            </a:r>
          </a:p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字面版：逐词对应图形符号；语境版：结合语义场景调整图形选择；AI辅助版：大模型从候选图形中补全难以规则匹配的片段。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9458" y="6307157"/>
            <a:ext cx="5504352" cy="15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不可译空位与语义漂移</a:t>
            </a:r>
          </a:p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无法匹配的片段保留为可见"空位"，清晰标记语义压缩、借用与误读，将不确定性本身转化为作品内容。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4190" y="3960008"/>
            <a:ext cx="5504352" cy="15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候选图形与置信度</a:t>
            </a:r>
          </a:p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每个词槽显示多个候选图形及其置信度评分，支持人工干预与切换，呈现翻译过程而非单一结果。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4190" y="6307157"/>
            <a:ext cx="5504352" cy="15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离线优先 · 人机协同</a:t>
            </a:r>
          </a:p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核心翻译引擎在浏览器端离线运行；AI接口按需调用；支持现场演示与截图存档，兼顾展览展示与技术答辩。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330364" y="1925552"/>
            <a:ext cx="11627272" cy="82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60"/>
              </a:lnSpc>
            </a:pPr>
            <a:r>
              <a:rPr lang="en-US" sz="701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系统总体架构</a:t>
            </a:r>
          </a:p>
        </p:txBody>
      </p:sp>
      <p:sp>
        <p:nvSpPr>
          <p:cNvPr id="17" name="Freeform 17"/>
          <p:cNvSpPr/>
          <p:nvPr/>
        </p:nvSpPr>
        <p:spPr>
          <a:xfrm>
            <a:off x="1953757" y="4889422"/>
            <a:ext cx="13851044" cy="2233481"/>
          </a:xfrm>
          <a:custGeom>
            <a:avLst/>
            <a:gdLst/>
            <a:ahLst/>
            <a:cxnLst/>
            <a:rect l="l" t="t" r="r" b="b"/>
            <a:pathLst>
              <a:path w="13851044" h="2233481">
                <a:moveTo>
                  <a:pt x="0" y="0"/>
                </a:moveTo>
                <a:lnTo>
                  <a:pt x="13851044" y="0"/>
                </a:lnTo>
                <a:lnTo>
                  <a:pt x="13851044" y="2233481"/>
                </a:lnTo>
                <a:lnTo>
                  <a:pt x="0" y="2233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743200" y="7592521"/>
            <a:ext cx="2455796" cy="84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9"/>
              </a:lnSpc>
            </a:pPr>
            <a:r>
              <a:rPr lang="en-US" sz="16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原始图形素材与人工标注数据</a:t>
            </a:r>
          </a:p>
          <a:p>
            <a:pPr marL="0" lvl="0" indent="0" algn="just">
              <a:lnSpc>
                <a:spcPts val="2279"/>
              </a:lnSpc>
            </a:pPr>
            <a:r>
              <a:rPr lang="en-US" sz="16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data/translator 数据产物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43600" y="7592521"/>
            <a:ext cx="2455796" cy="84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9"/>
              </a:lnSpc>
            </a:pPr>
            <a:r>
              <a:rPr lang="en-US" sz="16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build_translator_data.py</a:t>
            </a:r>
          </a:p>
          <a:p>
            <a:pPr marL="0" lvl="0" indent="0" algn="just">
              <a:lnSpc>
                <a:spcPts val="2279"/>
              </a:lnSpc>
            </a:pPr>
            <a:r>
              <a:rPr lang="en-US" sz="16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数据清洗、概念抽取、候选评分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7592521"/>
            <a:ext cx="2455796" cy="84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9"/>
              </a:lnSpc>
            </a:pPr>
            <a:r>
              <a:rPr lang="en-US" sz="16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前端交互层</a:t>
            </a:r>
          </a:p>
          <a:p>
            <a:pPr marL="0" lvl="0" indent="0" algn="just">
              <a:lnSpc>
                <a:spcPts val="2279"/>
              </a:lnSpc>
            </a:pPr>
            <a:r>
              <a:rPr lang="en-US" sz="16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index.html 离线翻译</a:t>
            </a:r>
          </a:p>
          <a:p>
            <a:pPr marL="0" lvl="0" indent="0" algn="just">
              <a:lnSpc>
                <a:spcPts val="2279"/>
              </a:lnSpc>
            </a:pPr>
            <a:r>
              <a:rPr lang="en-US" sz="16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server.js 本地代理服务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44400" y="7592521"/>
            <a:ext cx="2455796" cy="1170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9"/>
              </a:lnSpc>
            </a:pPr>
            <a:r>
              <a:rPr lang="en-US" sz="1676" dirty="0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DeepSeek/Qwen/Qwen-VL</a:t>
            </a:r>
          </a:p>
          <a:p>
            <a:pPr marL="0" lvl="0" indent="0" algn="just">
              <a:lnSpc>
                <a:spcPts val="2279"/>
              </a:lnSpc>
            </a:pPr>
            <a:r>
              <a:rPr lang="en-US" sz="1676" dirty="0" err="1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AI补译·视觉审稿·观众模拟</a:t>
            </a:r>
            <a:endParaRPr lang="en-US" sz="1676" dirty="0">
              <a:solidFill>
                <a:srgbClr val="4A6686"/>
              </a:solidFill>
              <a:latin typeface="Niramit"/>
              <a:ea typeface="Niramit"/>
              <a:cs typeface="Niramit"/>
              <a:sym typeface="Niramit"/>
            </a:endParaRPr>
          </a:p>
          <a:p>
            <a:pPr marL="0" lvl="0" indent="0" algn="just">
              <a:lnSpc>
                <a:spcPts val="2279"/>
              </a:lnSpc>
            </a:pPr>
            <a:r>
              <a:rPr lang="en-US" sz="1676" dirty="0" err="1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结果回流至前端展示</a:t>
            </a:r>
            <a:endParaRPr lang="en-US" sz="1676" dirty="0">
              <a:solidFill>
                <a:srgbClr val="4A6686"/>
              </a:solidFill>
              <a:latin typeface="Niramit"/>
              <a:ea typeface="Niramit"/>
              <a:cs typeface="Niramit"/>
              <a:sym typeface="Nirami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071873" y="5547861"/>
            <a:ext cx="1798450" cy="82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60"/>
              </a:lnSpc>
            </a:pPr>
            <a:r>
              <a:rPr lang="en-US" sz="701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72273" y="5547861"/>
            <a:ext cx="1798450" cy="82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60"/>
              </a:lnSpc>
            </a:pPr>
            <a:r>
              <a:rPr lang="en-US" sz="701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构建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72673" y="5547861"/>
            <a:ext cx="1798450" cy="82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60"/>
              </a:lnSpc>
            </a:pPr>
            <a:r>
              <a:rPr lang="en-US" sz="701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前端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73073" y="5547861"/>
            <a:ext cx="1798450" cy="82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60"/>
              </a:lnSpc>
            </a:pPr>
            <a:r>
              <a:rPr lang="en-US" sz="701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17">
            <a:extLst>
              <a:ext uri="{FF2B5EF4-FFF2-40B4-BE49-F238E27FC236}">
                <a16:creationId xmlns:a16="http://schemas.microsoft.com/office/drawing/2014/main" id="{69E9AECB-8C38-52A7-3C47-DEB1F713D9BA}"/>
              </a:ext>
            </a:extLst>
          </p:cNvPr>
          <p:cNvSpPr/>
          <p:nvPr/>
        </p:nvSpPr>
        <p:spPr>
          <a:xfrm>
            <a:off x="1890850" y="4807033"/>
            <a:ext cx="13931153" cy="2455366"/>
          </a:xfrm>
          <a:custGeom>
            <a:avLst/>
            <a:gdLst/>
            <a:ahLst/>
            <a:cxnLst/>
            <a:rect l="l" t="t" r="r" b="b"/>
            <a:pathLst>
              <a:path w="13931153" h="2455366">
                <a:moveTo>
                  <a:pt x="0" y="0"/>
                </a:moveTo>
                <a:lnTo>
                  <a:pt x="13931153" y="0"/>
                </a:lnTo>
                <a:lnTo>
                  <a:pt x="13931153" y="2455365"/>
                </a:lnTo>
                <a:lnTo>
                  <a:pt x="0" y="2455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330364" y="1992227"/>
            <a:ext cx="11627272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数据来源与处理流程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43200" y="7582996"/>
            <a:ext cx="2455796" cy="101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23"/>
              </a:lnSpc>
            </a:pPr>
            <a:r>
              <a:rPr lang="en-US" sz="20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原始图形素材·人工标注·白话文本标注·标注规范文档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43600" y="7582996"/>
            <a:ext cx="2455796" cy="101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23"/>
              </a:lnSpc>
            </a:pPr>
            <a:r>
              <a:rPr lang="en-US" sz="20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统一格式·目标关联·同义词扩展·语义标签归并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7582996"/>
            <a:ext cx="2455796" cy="101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23"/>
              </a:lnSpc>
            </a:pPr>
            <a:r>
              <a:rPr lang="en-US" sz="20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概念抽取·候选图形生成·不可译空位识别·别名映射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44400" y="7582996"/>
            <a:ext cx="2455796" cy="101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23"/>
              </a:lnSpc>
            </a:pPr>
            <a:r>
              <a:rPr lang="en-US" sz="20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噪声过滤·候选评分·置信度计算·数据产物输出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71873" y="5614536"/>
            <a:ext cx="1798450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72273" y="5614536"/>
            <a:ext cx="1798450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72673" y="5614536"/>
            <a:ext cx="1798450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73073" y="5614536"/>
            <a:ext cx="1798450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330364" y="2622296"/>
            <a:ext cx="11627272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数据规模与构建结果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16843" y="4178084"/>
            <a:ext cx="5528271" cy="3791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📊 核心数据指标一览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46,494 条图形标注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23,883 个识别目标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31,181 条白话文本标注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13,522 个候选概念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260 个作品核心概念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18 个 LLM 处理批次</a:t>
            </a:r>
          </a:p>
          <a:p>
            <a:pPr marL="0" lvl="0" indent="0" algn="just">
              <a:lnSpc>
                <a:spcPts val="3793"/>
              </a:lnSpc>
            </a:pPr>
            <a:r>
              <a:rPr lang="en-US" sz="2789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1,867 条图片路径（缺失路径：0）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774" y="3491844"/>
            <a:ext cx="7327816" cy="50883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3330364" y="2394695"/>
            <a:ext cx="11627272" cy="110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6"/>
              </a:lnSpc>
            </a:pPr>
            <a:r>
              <a:rPr lang="en-US" sz="930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核心翻译机制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29458" y="3960008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浏览器端离线词典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全部翻译逻辑在前端本地运行，无需网络连接即可完成图形序列生成；词典数据在页面加载时一次性读入内存，响应速度快且可离线展示。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9458" y="6307157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优先级评分体系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用户自定义别名：30分（最高优先）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正式概念标注：20分（标准匹配）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后备别名扩展：10分（兜底匹配）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优先级高的候选图形优先进入结果序列。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4190" y="3960008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排序与匹配策略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候选图形按词长降序、优先级降序双重排序；采用从左到右贪心最长匹配算法，每次尽可能匹配最长词段，避免碎片化切分，提升图形序列的语义连贯性。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4190" y="6307157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不可译空位处理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无法匹配的片段不被丢弃，而是以"不可译空位"形式保留在图形序列中；空位本身成为作品内容，直观呈现图形语言的表达边界与语义压缩过程。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-3630055" y="776331"/>
            <a:ext cx="2839872" cy="8638394"/>
          </a:xfrm>
          <a:custGeom>
            <a:avLst/>
            <a:gdLst/>
            <a:ahLst/>
            <a:cxnLst/>
            <a:rect l="l" t="t" r="r" b="b"/>
            <a:pathLst>
              <a:path w="2839872" h="8638394">
                <a:moveTo>
                  <a:pt x="0" y="0"/>
                </a:moveTo>
                <a:lnTo>
                  <a:pt x="2839872" y="0"/>
                </a:lnTo>
                <a:lnTo>
                  <a:pt x="2839872" y="8638394"/>
                </a:lnTo>
                <a:lnTo>
                  <a:pt x="0" y="8638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7386600" y="2568808"/>
            <a:ext cx="2923421" cy="4852150"/>
          </a:xfrm>
          <a:custGeom>
            <a:avLst/>
            <a:gdLst/>
            <a:ahLst/>
            <a:cxnLst/>
            <a:rect l="l" t="t" r="r" b="b"/>
            <a:pathLst>
              <a:path w="2923421" h="4852150">
                <a:moveTo>
                  <a:pt x="0" y="0"/>
                </a:moveTo>
                <a:lnTo>
                  <a:pt x="2923421" y="0"/>
                </a:lnTo>
                <a:lnTo>
                  <a:pt x="2923421" y="4852150"/>
                </a:lnTo>
                <a:lnTo>
                  <a:pt x="0" y="4852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3330364" y="2394695"/>
            <a:ext cx="11627272" cy="110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6"/>
              </a:lnSpc>
            </a:pPr>
            <a:r>
              <a:rPr lang="en-US" sz="930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双向回译与语义漂移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29458" y="3960008"/>
            <a:ext cx="5504352" cy="15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✦ 语义完整保留</a:t>
            </a:r>
          </a:p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图形序列经回译后，自然语言输出与原句高度吻合；概念链完整，置信度高；字面解释与原意一致，可视为翻译成功基准。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9458" y="6307157"/>
            <a:ext cx="5504352" cy="15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✦ 近似借用</a:t>
            </a:r>
          </a:p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无精确对应图形时，以语义相近图形替代；回译结果保留核心意义，但细节发生替换；系统标注"借用"标签并给出置信度警示。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4190" y="3960008"/>
            <a:ext cx="5504352" cy="15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✦ 部分偏移</a:t>
            </a:r>
          </a:p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图形序列回译后出现语义滑移；概念链中某一节点含义扩大或缩小；备选读法与原句存在可见差异，系统输出语义漂移风险提示。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4190" y="6307157"/>
            <a:ext cx="5504352" cy="15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✦ 不可译空位</a:t>
            </a:r>
          </a:p>
          <a:p>
            <a:pPr marL="0" lvl="0" indent="0" algn="just">
              <a:lnSpc>
                <a:spcPts val="3095"/>
              </a:lnSpc>
            </a:pPr>
            <a:r>
              <a:rPr lang="en-US" sz="2276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抽象关系、语境依赖或文化专属词无对应图形；系统保留原文片段为空位占位符；回译结果中出现缺口，平均置信度显著下降。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-2510889" y="3513823"/>
            <a:ext cx="4136089" cy="3562207"/>
          </a:xfrm>
          <a:custGeom>
            <a:avLst/>
            <a:gdLst/>
            <a:ahLst/>
            <a:cxnLst/>
            <a:rect l="l" t="t" r="r" b="b"/>
            <a:pathLst>
              <a:path w="4136089" h="3562207">
                <a:moveTo>
                  <a:pt x="0" y="0"/>
                </a:moveTo>
                <a:lnTo>
                  <a:pt x="4136089" y="0"/>
                </a:lnTo>
                <a:lnTo>
                  <a:pt x="4136089" y="3562207"/>
                </a:lnTo>
                <a:lnTo>
                  <a:pt x="0" y="356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6875318" y="3744729"/>
            <a:ext cx="3694456" cy="2812405"/>
          </a:xfrm>
          <a:custGeom>
            <a:avLst/>
            <a:gdLst/>
            <a:ahLst/>
            <a:cxnLst/>
            <a:rect l="l" t="t" r="r" b="b"/>
            <a:pathLst>
              <a:path w="3694456" h="2812405">
                <a:moveTo>
                  <a:pt x="0" y="0"/>
                </a:moveTo>
                <a:lnTo>
                  <a:pt x="3694456" y="0"/>
                </a:lnTo>
                <a:lnTo>
                  <a:pt x="3694456" y="2812404"/>
                </a:lnTo>
                <a:lnTo>
                  <a:pt x="0" y="2812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3284573" y="4414813"/>
            <a:ext cx="2313901" cy="231390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419557" y="4414813"/>
            <a:ext cx="2313901" cy="231390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554542" y="4414813"/>
            <a:ext cx="2313901" cy="231390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2689527" y="4414813"/>
            <a:ext cx="2313901" cy="231390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330364" y="2585996"/>
            <a:ext cx="11627272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大模型的三种角色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44991" y="6957313"/>
            <a:ext cx="2793065" cy="51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9"/>
              </a:lnSpc>
            </a:pPr>
            <a:r>
              <a:rPr lang="en-US" sz="31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AI 补译器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44991" y="7506878"/>
            <a:ext cx="2793065" cy="35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5"/>
              </a:lnSpc>
            </a:pPr>
            <a:r>
              <a:rPr lang="en-US" sz="22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限定候选·近似匹配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79975" y="6957313"/>
            <a:ext cx="2793065" cy="51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9"/>
              </a:lnSpc>
            </a:pPr>
            <a:r>
              <a:rPr lang="en-US" sz="31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AI 视觉审稿人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79975" y="7506878"/>
            <a:ext cx="2793065" cy="35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5"/>
              </a:lnSpc>
            </a:pPr>
            <a:r>
              <a:rPr lang="en-US" sz="22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适配检查·误读分析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14960" y="6957313"/>
            <a:ext cx="2793065" cy="51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9"/>
              </a:lnSpc>
            </a:pPr>
            <a:r>
              <a:rPr lang="en-US" sz="31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AI 观众模拟器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14960" y="7506878"/>
            <a:ext cx="2793065" cy="35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5"/>
              </a:lnSpc>
            </a:pPr>
            <a:r>
              <a:rPr lang="en-US" sz="22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隐藏原句·图形盲读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9945" y="6957313"/>
            <a:ext cx="2793065" cy="51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9"/>
              </a:lnSpc>
            </a:pPr>
            <a:r>
              <a:rPr lang="en-US" sz="31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人工确认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9945" y="7506878"/>
            <a:ext cx="2793065" cy="35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5"/>
              </a:lnSpc>
            </a:pPr>
            <a:r>
              <a:rPr lang="en-US" sz="2202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模型建议须人工审核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3330364" y="2394695"/>
            <a:ext cx="11627272" cy="110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6"/>
              </a:lnSpc>
            </a:pPr>
            <a:r>
              <a:rPr lang="en-US" sz="930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前端交互与展示形式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29458" y="3960008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输入与翻译界面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自然语言输入框与示例句快速加载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图形动画逐帧呈现翻译过程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不可译空位高亮标注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三种版本一键切换对比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9458" y="6307157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作品展示功能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作品画布支持截图与导出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历史记录保存翻译会话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用户自定义别名映射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作品说明卡自动生成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4190" y="3960008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探索与检索工具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概念检索浏览图形词库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语义地图可视化概念关联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置信度与语义漂移实时显示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候选图形多选与人工确认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4190" y="6307157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平台定位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数字艺术实验平台而非普通翻译网页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离线优先，无需联网即可运行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界面兼具展览感与答辩清晰度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可现场演示、互动与讨论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3330364" y="2394695"/>
            <a:ext cx="11627272" cy="110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6"/>
              </a:lnSpc>
            </a:pPr>
            <a:r>
              <a:rPr lang="en-US" sz="9302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技术实现与运行方式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29458" y="3960008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HTML / CSS / JavaScript 纯前端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零依赖框架，直接打开 index.html 即可离线运行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浏览器端词典匹配与图形渲染，无需安装环境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9458" y="6307157"/>
            <a:ext cx="5504352" cy="146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Node.js 本地代理服务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使用 Node.js 内置模块搭建 server.js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启动后转发 AI 接口请求，API 密钥仅存于内存，不写入磁盘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4190" y="3960008"/>
            <a:ext cx="5504352" cy="146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Python 离线数据构建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build_translator_data.py 处理标注数据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输出 data/translator 产物供前端直接加载，构建与运行完全解耦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4190" y="6307157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两种运行模式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离线模式：直接打开 index.html，完整翻译功能可用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联网模式：启动 server.js 后调用 DeepSeek / Qwen / Qwen-VL AI 接口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330364" y="1992227"/>
            <a:ext cx="11627272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演示流程</a:t>
            </a:r>
          </a:p>
        </p:txBody>
      </p:sp>
      <p:sp>
        <p:nvSpPr>
          <p:cNvPr id="17" name="Freeform 17"/>
          <p:cNvSpPr/>
          <p:nvPr/>
        </p:nvSpPr>
        <p:spPr>
          <a:xfrm>
            <a:off x="1890850" y="4807033"/>
            <a:ext cx="13931153" cy="2455366"/>
          </a:xfrm>
          <a:custGeom>
            <a:avLst/>
            <a:gdLst/>
            <a:ahLst/>
            <a:cxnLst/>
            <a:rect l="l" t="t" r="r" b="b"/>
            <a:pathLst>
              <a:path w="13931153" h="2455366">
                <a:moveTo>
                  <a:pt x="0" y="0"/>
                </a:moveTo>
                <a:lnTo>
                  <a:pt x="13931153" y="0"/>
                </a:lnTo>
                <a:lnTo>
                  <a:pt x="13931153" y="2455365"/>
                </a:lnTo>
                <a:lnTo>
                  <a:pt x="0" y="2455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17853" y="7582996"/>
            <a:ext cx="2455796" cy="101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23"/>
              </a:lnSpc>
            </a:pPr>
            <a:r>
              <a:rPr lang="en-US" sz="2002" dirty="0" err="1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输入短句→观察图形序列与置信度→切换三种翻译版本</a:t>
            </a:r>
            <a:endParaRPr lang="en-US" sz="2002" dirty="0">
              <a:solidFill>
                <a:srgbClr val="4A6686"/>
              </a:solidFill>
              <a:latin typeface="Niramit"/>
              <a:ea typeface="Niramit"/>
              <a:cs typeface="Niramit"/>
              <a:sym typeface="Nirami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43600" y="7582996"/>
            <a:ext cx="2455796" cy="101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23"/>
              </a:lnSpc>
            </a:pPr>
            <a:r>
              <a:rPr lang="en-US" sz="2002" dirty="0" err="1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检查不可译片段→运行AI补译器选取近似图形</a:t>
            </a:r>
            <a:endParaRPr lang="en-US" sz="2002" dirty="0">
              <a:solidFill>
                <a:srgbClr val="4A6686"/>
              </a:solidFill>
              <a:latin typeface="Niramit"/>
              <a:ea typeface="Niramit"/>
              <a:cs typeface="Niramit"/>
              <a:sym typeface="Nirami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48727" y="7547635"/>
            <a:ext cx="2455796" cy="101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23"/>
              </a:lnSpc>
            </a:pPr>
            <a:r>
              <a:rPr lang="en-US" sz="2002" dirty="0" err="1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查看AI视觉审稿→分析图形与语义适配度与误读</a:t>
            </a:r>
            <a:endParaRPr lang="en-US" sz="2002" dirty="0">
              <a:solidFill>
                <a:srgbClr val="4A6686"/>
              </a:solidFill>
              <a:latin typeface="Niramit"/>
              <a:ea typeface="Niramit"/>
              <a:cs typeface="Niramit"/>
              <a:sym typeface="Nirami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974474" y="7582996"/>
            <a:ext cx="2455796" cy="101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23"/>
              </a:lnSpc>
            </a:pPr>
            <a:r>
              <a:rPr lang="en-US" sz="2002" dirty="0" err="1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进行观众盲读→对比回译结果与原句语义漂移</a:t>
            </a:r>
            <a:endParaRPr lang="en-US" sz="2002" dirty="0">
              <a:solidFill>
                <a:srgbClr val="4A6686"/>
              </a:solidFill>
              <a:latin typeface="Niramit"/>
              <a:ea typeface="Niramit"/>
              <a:cs typeface="Niramit"/>
              <a:sym typeface="Nirami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646526" y="5598412"/>
            <a:ext cx="1798450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 dirty="0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59572" y="5614536"/>
            <a:ext cx="1798450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 dirty="0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77400" y="5687840"/>
            <a:ext cx="1798450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 dirty="0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03147" y="5614536"/>
            <a:ext cx="1798450" cy="110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2"/>
              </a:lnSpc>
            </a:pPr>
            <a:r>
              <a:rPr lang="en-US" sz="9308" b="1" dirty="0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3330364" y="2394695"/>
            <a:ext cx="11627272" cy="107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41"/>
              </a:lnSpc>
            </a:pPr>
            <a:r>
              <a:rPr lang="en-US" sz="9107" b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创新价值、局限与展望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29458" y="3960008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✦ 创新价值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将不确定性、误读与回译转化为作品内容本身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语义漂移不是缺陷，而是可观看的创作过程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人机协同标注与翻译的新型展示范式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9458" y="6307157"/>
            <a:ext cx="5504352" cy="146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✦ 局限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概念库规模有限，覆盖词汇不足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启发式评分难以处理文化语境差异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大模型调用成本与离线优先存在张力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4190" y="3960008"/>
            <a:ext cx="5504352" cy="184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✦ 展望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引入向量检索提升语义匹配精度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开展用户研究与观众盲读实验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多模型横向对比与可视化编辑器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面向展览模式的交互优化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4190" y="6307157"/>
            <a:ext cx="5504352" cy="146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✦ 核心理念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图形语言的表达边界本身即是研究对象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误读与借用是语言演化的自然过程</a:t>
            </a:r>
          </a:p>
          <a:p>
            <a:pPr marL="0" lvl="0" indent="0" algn="just">
              <a:lnSpc>
                <a:spcPts val="2996"/>
              </a:lnSpc>
            </a:pPr>
            <a:r>
              <a:rPr lang="en-US" sz="2203">
                <a:solidFill>
                  <a:srgbClr val="4A6686"/>
                </a:solidFill>
                <a:latin typeface="Niramit"/>
                <a:ea typeface="Niramit"/>
                <a:cs typeface="Niramit"/>
                <a:sym typeface="Niramit"/>
              </a:rPr>
              <a:t>• 课程项目可生长为持续迭代的数字艺术作品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93359" y="-2618964"/>
            <a:ext cx="22493288" cy="3086100"/>
            <a:chOff x="0" y="0"/>
            <a:chExt cx="5924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11928" y="9819864"/>
            <a:ext cx="22493288" cy="3086100"/>
            <a:chOff x="0" y="0"/>
            <a:chExt cx="5924158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24158" cy="812800"/>
            </a:xfrm>
            <a:custGeom>
              <a:avLst/>
              <a:gdLst/>
              <a:ahLst/>
              <a:cxnLst/>
              <a:rect l="l" t="t" r="r" b="b"/>
              <a:pathLst>
                <a:path w="5924158" h="812800">
                  <a:moveTo>
                    <a:pt x="0" y="0"/>
                  </a:moveTo>
                  <a:lnTo>
                    <a:pt x="5924158" y="0"/>
                  </a:lnTo>
                  <a:lnTo>
                    <a:pt x="5924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C8EB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24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61" y="8743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40486" y="9103927"/>
            <a:ext cx="1866053" cy="308747"/>
          </a:xfrm>
          <a:custGeom>
            <a:avLst/>
            <a:gdLst/>
            <a:ahLst/>
            <a:cxnLst/>
            <a:rect l="l" t="t" r="r" b="b"/>
            <a:pathLst>
              <a:path w="1866053" h="308747">
                <a:moveTo>
                  <a:pt x="0" y="0"/>
                </a:moveTo>
                <a:lnTo>
                  <a:pt x="1866053" y="0"/>
                </a:lnTo>
                <a:lnTo>
                  <a:pt x="1866053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1461" y="9107326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7"/>
                </a:lnTo>
                <a:lnTo>
                  <a:pt x="0" y="3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049" y="874327"/>
            <a:ext cx="2534490" cy="308747"/>
          </a:xfrm>
          <a:custGeom>
            <a:avLst/>
            <a:gdLst/>
            <a:ahLst/>
            <a:cxnLst/>
            <a:rect l="l" t="t" r="r" b="b"/>
            <a:pathLst>
              <a:path w="2534490" h="308747">
                <a:moveTo>
                  <a:pt x="0" y="0"/>
                </a:moveTo>
                <a:lnTo>
                  <a:pt x="2534490" y="0"/>
                </a:lnTo>
                <a:lnTo>
                  <a:pt x="2534490" y="308746"/>
                </a:lnTo>
                <a:lnTo>
                  <a:pt x="0" y="30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4345964" y="1027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4345964" y="9260000"/>
            <a:ext cx="9596073" cy="0"/>
          </a:xfrm>
          <a:prstGeom prst="line">
            <a:avLst/>
          </a:prstGeom>
          <a:ln w="19050" cap="flat">
            <a:solidFill>
              <a:srgbClr val="4A6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4075424" y="3169148"/>
            <a:ext cx="10137152" cy="41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386"/>
              </a:lnSpc>
            </a:pPr>
            <a:r>
              <a:rPr lang="en-US" sz="5400" b="1" dirty="0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《</a:t>
            </a:r>
            <a:r>
              <a:rPr lang="en-US" sz="5400" b="1" dirty="0" err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地书翻译机</a:t>
            </a:r>
            <a:r>
              <a:rPr lang="en-US" sz="5400" b="1" dirty="0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》</a:t>
            </a:r>
          </a:p>
          <a:p>
            <a:pPr marL="0" lvl="0" indent="0">
              <a:lnSpc>
                <a:spcPts val="5386"/>
              </a:lnSpc>
            </a:pPr>
            <a:r>
              <a:rPr lang="en-US" sz="5400" b="1" dirty="0" err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将课程标注数据、规则翻译与大模型协作结合</a:t>
            </a:r>
            <a:endParaRPr lang="en-US" sz="5400" b="1" dirty="0">
              <a:solidFill>
                <a:srgbClr val="4A6686"/>
              </a:solidFill>
              <a:latin typeface="IBM Plex Serif Bold"/>
              <a:ea typeface="IBM Plex Serif Bold"/>
              <a:cs typeface="IBM Plex Serif Bold"/>
              <a:sym typeface="IBM Plex Serif Bold"/>
            </a:endParaRPr>
          </a:p>
          <a:p>
            <a:pPr marL="0" lvl="0" indent="0">
              <a:lnSpc>
                <a:spcPts val="5386"/>
              </a:lnSpc>
            </a:pPr>
            <a:r>
              <a:rPr lang="en-US" sz="5400" b="1" dirty="0" err="1">
                <a:solidFill>
                  <a:srgbClr val="4A6686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把图形语言的表达边界转化为可交互、可评价、可讨论的数字作品</a:t>
            </a:r>
            <a:endParaRPr lang="en-US" sz="5400" b="1" dirty="0">
              <a:solidFill>
                <a:srgbClr val="4A6686"/>
              </a:solidFill>
              <a:latin typeface="IBM Plex Serif Bold"/>
              <a:ea typeface="IBM Plex Serif Bold"/>
              <a:cs typeface="IBM Plex Serif Bold"/>
              <a:sym typeface="IBM Plex Serif Bold"/>
            </a:endParaRPr>
          </a:p>
        </p:txBody>
      </p:sp>
      <p:sp>
        <p:nvSpPr>
          <p:cNvPr id="15" name="Freeform 15"/>
          <p:cNvSpPr/>
          <p:nvPr/>
        </p:nvSpPr>
        <p:spPr>
          <a:xfrm rot="5400000">
            <a:off x="-2251456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16919965" y="3675370"/>
            <a:ext cx="3620948" cy="2936260"/>
          </a:xfrm>
          <a:custGeom>
            <a:avLst/>
            <a:gdLst/>
            <a:ahLst/>
            <a:cxnLst/>
            <a:rect l="l" t="t" r="r" b="b"/>
            <a:pathLst>
              <a:path w="3620948" h="2936260">
                <a:moveTo>
                  <a:pt x="0" y="0"/>
                </a:moveTo>
                <a:lnTo>
                  <a:pt x="3620948" y="0"/>
                </a:lnTo>
                <a:lnTo>
                  <a:pt x="3620948" y="2936260"/>
                </a:lnTo>
                <a:lnTo>
                  <a:pt x="0" y="293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582</Words>
  <Application>Microsoft Office PowerPoint</Application>
  <PresentationFormat>自定义</PresentationFormat>
  <Paragraphs>146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Calibri</vt:lpstr>
      <vt:lpstr>IBM Plex Serif Bold</vt:lpstr>
      <vt:lpstr>Niramit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地书翻译机：语义漂移展览</dc:title>
  <cp:lastModifiedBy>. Augenstern</cp:lastModifiedBy>
  <cp:revision>2</cp:revision>
  <dcterms:created xsi:type="dcterms:W3CDTF">2006-08-16T00:00:00Z</dcterms:created>
  <dcterms:modified xsi:type="dcterms:W3CDTF">2026-06-27T05:32:42Z</dcterms:modified>
  <dc:identifier>DAHNvQrcpbE</dc:identifier>
</cp:coreProperties>
</file>